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校园RPG冒险游戏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4A01F"/>
                </a:solidFill>
                <a:latin typeface="Microsoft YaHei"/>
              </a:defRPr>
            </a:pPr>
            <a:r>
              <a:t>C++面向对象程序设计 · 课程设计汇报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01752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  <a:latin typeface="Microsoft YaHei"/>
              </a:defRPr>
            </a:pPr>
            <a:r>
              <a:t>C++17 + Win32 API + MinGW GCC 6.3.0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组  长：张佳怡    学  号：1030425404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CC"/>
                </a:solidFill>
                <a:latin typeface="Microsoft YaHei"/>
              </a:defRPr>
            </a:pPr>
            <a:r>
              <a:t>人工智能与自动化学院 · 计算机科学与技术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02920" cy="41148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项目背景与目标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11680"/>
            <a:ext cx="502920" cy="41148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项目特色与创新（2项挑战任务）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502920" cy="41148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06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项目管理（团队分工+进度安排）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108960"/>
            <a:ext cx="502920" cy="41148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1546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54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需求分析（功能+非功能需求）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657600"/>
            <a:ext cx="502920" cy="41148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系统设计（架构+模块+数据流）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206240"/>
            <a:ext cx="502920" cy="41148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51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类设计与UML（继承+组合）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754880"/>
            <a:ext cx="502920" cy="41148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00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00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关键功能实现（代码详解）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303520"/>
            <a:ext cx="502920" cy="41148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3492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349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测试与结果分析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852160"/>
            <a:ext cx="502920" cy="41148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897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97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项目类型：基于C++17的Windows GUI校园冒险RPG游戏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游戏世界观：以校园生活为冒险背景，轻松休闲的角色扮演世界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玩家角色：扮演校园冒险者，探索校园、遭遇怪物、完成任务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开发模式：小组合作（4人），面向对象分析设计与编程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技术栈：C++17 + Win32 API + MinGW GCC 6.3.0 + CMake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核心特性：类继承、多态、虚函数、STL容器、文件持久化、多线程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代码规模：约3000行源代码，包含15个核心类，6大功能模块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界面风格：矩形按钮交互，微软雅黑字体，中文界面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编译方案：-fexec-charset=UTF-8 + CP_UTF8编码页解决中文乱码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463040"/>
            <a:ext cx="36576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08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579A"/>
                </a:solidFill>
                <a:latin typeface="Microsoft YaHei"/>
              </a:defRPr>
            </a:pPr>
            <a:r>
              <a:t>15+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核心类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331720"/>
            <a:ext cx="36576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579A"/>
                </a:solidFill>
                <a:latin typeface="Microsoft YaHei"/>
              </a:defRPr>
            </a:pPr>
            <a:r>
              <a:t>3000+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代码行数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200400"/>
            <a:ext cx="36576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246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579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069080"/>
            <a:ext cx="36576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579A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游戏道具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937760"/>
            <a:ext cx="36576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983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579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校园任务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5806440"/>
            <a:ext cx="36576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5852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579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989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怪物类型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项目特色与创新 — 2项挑战任务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2103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挑战1：Item多态继承体系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48840"/>
            <a:ext cx="4846320" cy="2743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Item抽象基类：纯虚函数 use()/clone()/getTypeName()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Food(食物)：恢复HP 25~65，3种校园食品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Medicine(药品)：高额回血 50~9999，3种医疗用品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Equipment(装备)：永久ATK/DEF加成，武器/防具/饰品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背包统一用 vector&lt;Item*&gt; 基类指针管理，运行时多态分派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2103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挑战2：Skill技能系统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148840"/>
            <a:ext cx="4572000" cy="2743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Skill抽象基类：纯虚函数 calcDamage()/clone()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MeleeSkill(物理)：伤害=力量×系数-目标物防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MagicSkill(魔法)：伤害=智力×系数-目标魔防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HealSkill(治疗)：恢复HP=智力×N (4/5/6)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DebuffSkill(减益)：伤害+降低敌方物防30%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设计模式应用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579A"/>
                </a:solidFill>
                <a:latin typeface="Microsoft YaHei"/>
              </a:defRPr>
            </a:pPr>
            <a:r>
              <a:t>工厂模式(SkillFactory)  |  原型模式(Item::clone())  |  策略模式(Skill::calcDamage)  |  模板方法(序列化接口)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挑战1详解 — Item多态继承体系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类层次结构 &amp; 12种道具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00" cy="4389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51206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Item (抽象基类)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id/name/desc/type/price/quantity | 纯虚: use()/clone()/getTypeName()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17520"/>
            <a:ext cx="51206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44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Food :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192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m_hpRestore | use(): target.addHP(25~65) | getTypeName(): 食物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69080"/>
            <a:ext cx="51206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96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Medicine : 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708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m_hpRestore + m_cureEffect | use(): target.addHP(50~9999) | getTypeName(): 药品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20640"/>
            <a:ext cx="51206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480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Equipment : 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223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m_attackBonus/m_defenseBonus/m_slot | use(): 永久属性加成(武器/防具/饰品)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12种校园道具（全部可在商店购买）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920240"/>
            <a:ext cx="502920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【食物类】校园面包(15G,HP+25) | 清甜牛奶(25G,HP+40) | 能量饭团(40G,HP+65)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017520"/>
            <a:ext cx="502920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【药品类】基础创可贴(30G,HP+50) | 急救喷雾(60G,HP+100) | 全能药剂(120G,满血)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14800"/>
            <a:ext cx="502920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【装备类】新手校服(80G,DEF+8) | 运动护腕(150G,ATK+12) | 学霸徽章(280G,ATK+15/DEF+10)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核心代码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577840"/>
            <a:ext cx="502920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623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Microsoft YaHei"/>
              </a:defRPr>
            </a:pPr>
            <a:r>
              <a:t>class Item {</a:t>
            </a:r>
            <a:br/>
            <a:r>
              <a:t>  virtual void use(BaseCharacter&amp;)=0;</a:t>
            </a:r>
            <a:br/>
            <a:r>
              <a:t>  virtual Item* clone() const=0;</a:t>
            </a:r>
            <a:br/>
            <a:r>
              <a:t>  virtual string getTypeName() const=0;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挑战2详解 — Skill技能系统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技能类层次结构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6692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Skill (抽象基类)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id/name/lv1~3/mpCost/coeff | 纯虚: calcDamage()/clone()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5669280" cy="8229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MeleeSkill :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物理伤害=力量×系数-物防 | Lv1:×1.2 Lv2:×1.4 Lv3:×1.7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5669280" cy="8229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850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MagicSkill :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魔法伤害=智力×系数-魔防 | Lv1:×1.3 Lv2:×1.5 Lv3:×1.8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5669280" cy="8229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994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HealSkill :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恢复HP=智力×N | Lv1:N=4 Lv2:N=5 Lv3:N=6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5669280" cy="8229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13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DebuffSkill : 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0.8倍魔法伤害 + 降低敌方物防30% 持续1回合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6种校园主题技能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828800"/>
            <a:ext cx="48463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1. 挥拳重击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847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Melee | MP:10 | 解锁Lv1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基础物理攻击，1.2~1.7倍力量伤害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578608"/>
            <a:ext cx="48463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5968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2. 冲刺冲撞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5968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Melee | MP:22 | 解锁Lv3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898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强力冲撞，1.8~2.5倍高额物理伤害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328416"/>
            <a:ext cx="48463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346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3. 粉笔飞弹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3467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Magic | MP:12 | 解锁Lv1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6484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基础魔法攻击，1.3~1.8倍智力伤害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078224"/>
            <a:ext cx="48463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4. 试卷风暴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0965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Magic | MP:30 | 解锁Lv4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398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大范围魔法攻击，2.2~3.0倍智力伤害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4828032"/>
            <a:ext cx="48463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5. 课间补给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Heal | MP:15 | 解锁Lv2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148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恢复HP = 智力×4~6，战斗续航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5577840"/>
            <a:ext cx="48463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5596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6. 说教威慑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596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Debuff | MP:18 | 解锁Lv3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897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0.8倍魔法伤害 + 降低敌方物防30%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SkillFactory::createSkill(id) → clone() 工厂模式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项目管理 — 团队分工与进度安排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学号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班级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职责分工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组长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张佳怡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1030425404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计科2201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项目架构、Item多态体系(基类+3派生类)、背包系统、商店系统、CMake构建、编码修复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组员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成员B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xxxxxxxxx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计科2201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Win32 GUI框架、resources.rc、回合制战斗系统(3种怪物)、怪物属性设计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组员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成员C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xxxxxxxxx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计科2201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角色系统(BaseCharacter+Player)、等级成长、存档系统、多线程自动存档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组员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成员D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xxxxxxxxx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计科2201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任务系统(Task+TaskSystem)、任务模板文件、技能系统、SkillFactory、文档撰写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项目进度甘特图（12周）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1737360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需求分析</a:t>
            </a:r>
            <a:br/>
            <a:r>
              <a:t>UML建模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第1-2周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4846320"/>
            <a:ext cx="3200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4389120"/>
            <a:ext cx="1737360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核心类实现</a:t>
            </a:r>
            <a:br/>
            <a:r>
              <a:t>Item/Skill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937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第3-4周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4846320"/>
            <a:ext cx="3200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4389120"/>
            <a:ext cx="1737360" cy="100584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进阶功能</a:t>
            </a:r>
            <a:br/>
            <a:r>
              <a:t>战斗/任务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937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第5-6周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846320"/>
            <a:ext cx="3200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1737360" cy="100584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GUI开发</a:t>
            </a:r>
            <a:br/>
            <a:r>
              <a:t>Win32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937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第7-8周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4846320"/>
            <a:ext cx="3200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4389120"/>
            <a:ext cx="1737360" cy="100584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存档集成</a:t>
            </a:r>
            <a:br/>
            <a:r>
              <a:t>多线程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937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第9-10周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4846320"/>
            <a:ext cx="32004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4389120"/>
            <a:ext cx="1737360" cy="100584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4434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测试与</a:t>
            </a:r>
            <a:br/>
            <a:r>
              <a:t>文档撰写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937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第11-12周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协作方式：Git版本控制 + 模块化开发 + 接口约定(头文件先行) + 定期Code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需求分析 — 功能需求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828800" cy="2926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Microsoft YaHei"/>
              </a:defRPr>
            </a:pPr>
            <a:r>
              <a:t>角色管理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1554480" cy="2743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创建/查看/存读档</a:t>
            </a:r>
            <a:br/>
            <a:r>
              <a:t>名称、等级Lv1~50</a:t>
            </a:r>
            <a:br/>
            <a:r>
              <a:t>HP/MP/EXP/金币</a:t>
            </a:r>
            <a:br/>
            <a:r>
              <a:t>STR/VIT/AGI/INT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463040"/>
            <a:ext cx="1828800" cy="2926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Microsoft YaHei"/>
              </a:defRPr>
            </a:pPr>
            <a:r>
              <a:t>背包管理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965960"/>
            <a:ext cx="1554480" cy="2743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获得/查看/使用/删除</a:t>
            </a:r>
            <a:br/>
            <a:r>
              <a:t>3类12种道具</a:t>
            </a:r>
            <a:br/>
            <a:r>
              <a:t>食物/药品/装备</a:t>
            </a:r>
            <a:br/>
            <a:r>
              <a:t>无限容量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1828800" cy="2926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Microsoft YaHei"/>
              </a:defRPr>
            </a:pPr>
            <a:r>
              <a:t>商店系统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965960"/>
            <a:ext cx="1554480" cy="2743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查看/购买/出售</a:t>
            </a:r>
            <a:br/>
            <a:r>
              <a:t>12种固定商品</a:t>
            </a:r>
            <a:br/>
            <a:r>
              <a:t>半价回收结算</a:t>
            </a:r>
            <a:br/>
            <a:r>
              <a:t>实时金币更新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463040"/>
            <a:ext cx="1828800" cy="2926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任务系统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965960"/>
            <a:ext cx="1554480" cy="2743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查看/接受/完成/领奖</a:t>
            </a:r>
            <a:br/>
            <a:r>
              <a:t>4个梯度任务</a:t>
            </a:r>
            <a:br/>
            <a:r>
              <a:t>击杀计数追踪</a:t>
            </a:r>
            <a:br/>
            <a:r>
              <a:t>状态机流转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463040"/>
            <a:ext cx="1828800" cy="2926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战斗系统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1965960"/>
            <a:ext cx="1554480" cy="2743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选择/攻击/受击</a:t>
            </a:r>
            <a:br/>
            <a:r>
              <a:t>3种校园怪物</a:t>
            </a:r>
            <a:br/>
            <a:r>
              <a:t>回合制自动战斗</a:t>
            </a:r>
            <a:br/>
            <a:r>
              <a:t>EXP+金币奖励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87000" y="1463040"/>
            <a:ext cx="1828800" cy="2926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等级成长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1965960"/>
            <a:ext cx="1554480" cy="2743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210312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经验累计</a:t>
            </a:r>
            <a:br/>
            <a:r>
              <a:t>自动检测升级</a:t>
            </a:r>
            <a:br/>
            <a:r>
              <a:t>HP+20/ATK+5每级</a:t>
            </a:r>
            <a:br/>
            <a:r>
              <a:t>最高50级上限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非功能需求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性能：GUI响应&lt;500ms | 战斗结算&lt;200ms | 存档写入&lt;100ms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可靠性：多线程自动存档每60秒 | volatile标志位线程安全 | 存档文件校验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可用性：微软雅黑字体渲染 | 中文界面无乱码 | 矩形按钮直观交互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可维护性：头文件与实现分离 | 命名空间RPG | 清晰的注释规范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可扩展性：虚函数接口继承扩展 | 工厂模式注册新类型 | CMake模块化构建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兼容性：Windows 7/10/11 | MinGW GCC 6.3.0+ | 静态链接无额外依赖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系统设计 — 三层架构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332720" cy="11887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579A"/>
                </a:solidFill>
                <a:latin typeface="Microsoft YaHei"/>
              </a:defRPr>
            </a:pPr>
            <a:r>
              <a:t>表示层 — Win32 GUI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7276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main.cpp (619行)  WndProc消息循环  9按钮事件分发</a:t>
            </a:r>
            <a:br/>
            <a:r>
              <a:t>8个模态对话框(DialogBoxW)  resources.rc资源文件</a:t>
            </a:r>
            <a:br/>
            <a:r>
              <a:t>微软雅黑GDI字体渲染  状态栏实时信息展示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01F"/>
                </a:solidFill>
                <a:latin typeface="Microsoft YaHei"/>
              </a:defRPr>
            </a:pPr>
            <a:r>
              <a:t>—— 全局变量交互 g_player/g_inventory/g_shop/g_taskSystem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业务逻辑层 — 15个核心类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Player角色属性/等级/技能/金币  Inventory背包(vector&lt;Item*&gt;)</a:t>
            </a:r>
            <a:br/>
            <a:r>
              <a:t>Shop商店(12商品模板)  TaskSystem任务管理(状态机)</a:t>
            </a:r>
            <a:br/>
            <a:r>
              <a:t>Skill体系(6技能工厂)  Item体系(12道具多态)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01F"/>
                </a:solidFill>
                <a:latin typeface="Microsoft YaHei"/>
              </a:defRPr>
            </a:pPr>
            <a:r>
              <a:t>—— 序列化接口 serialize/deserialize ——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25780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A7CD5"/>
                </a:solidFill>
                <a:latin typeface="Microsoft YaHei"/>
              </a:defRPr>
            </a:pPr>
            <a:r>
              <a:t>数据持久层 — 文件I/O + 多线程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961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SaveManager玩家数据存读档  tasks.txt任务模板(UTF-8)</a:t>
            </a:r>
            <a:br/>
            <a:r>
              <a:t>Win32 CreateThread后台线程  每60秒自动保存</a:t>
            </a:r>
            <a:br/>
            <a:r>
              <a:t>volatile标志位线程通信  WaitForSingleObject安全退出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系统设计 — 六大模块详解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874519" cy="5029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Microsoft YaHei"/>
              </a:defRPr>
            </a:pPr>
            <a:r>
              <a:t>角色模块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1600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691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BaseCharacter(抽象基类)</a:t>
            </a:r>
            <a:br/>
            <a:r>
              <a:t>• 通用属性/战斗接口</a:t>
            </a:r>
            <a:br/>
            <a:r>
              <a:t>• 虚函数serialize()</a:t>
            </a:r>
            <a:br/>
            <a:br/>
            <a:r>
              <a:t>Player(派生类)</a:t>
            </a:r>
            <a:br/>
            <a:r>
              <a:t>• exp/gold/skillPoint</a:t>
            </a:r>
            <a:br/>
            <a:r>
              <a:t>• 技能/背包/任务容器</a:t>
            </a:r>
            <a:br/>
            <a:r>
              <a:t>• 等级成长/金币操作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71600"/>
            <a:ext cx="1874519" cy="5029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道具模块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828800"/>
            <a:ext cx="1600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965960"/>
            <a:ext cx="1691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Item(抽象基类)</a:t>
            </a:r>
            <a:br/>
            <a:r>
              <a:t>• use()/clone()纯虚函数</a:t>
            </a:r>
            <a:br/>
            <a:br/>
            <a:r>
              <a:t>Food(食物)</a:t>
            </a:r>
            <a:br/>
            <a:r>
              <a:t>• HP恢复25~65</a:t>
            </a:r>
            <a:br/>
            <a:br/>
            <a:r>
              <a:t>Medicine(药品)</a:t>
            </a:r>
            <a:br/>
            <a:r>
              <a:t>• HP恢复50~9999</a:t>
            </a:r>
            <a:br/>
            <a:br/>
            <a:r>
              <a:t>Equipment(装备)</a:t>
            </a:r>
            <a:br/>
            <a:r>
              <a:t>• 永久ATK/DEF加成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1874519" cy="5029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7CD5"/>
                </a:solidFill>
                <a:latin typeface="Microsoft YaHei"/>
              </a:defRPr>
            </a:pPr>
            <a:r>
              <a:t>背包+商店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828800"/>
            <a:ext cx="1600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65960"/>
            <a:ext cx="1691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Inventory(背包)</a:t>
            </a:r>
            <a:br/>
            <a:r>
              <a:t>• vector&lt;Item*&gt;管理</a:t>
            </a:r>
            <a:br/>
            <a:r>
              <a:t>• 增删查改/序列化</a:t>
            </a:r>
            <a:br/>
            <a:br/>
            <a:r>
              <a:t>Shop(商店)</a:t>
            </a:r>
            <a:br/>
            <a:r>
              <a:t>• 12种商品模板</a:t>
            </a:r>
            <a:br/>
            <a:r>
              <a:t>• 购买clone/出售半价</a:t>
            </a:r>
            <a:br/>
            <a:r>
              <a:t>• 自动金币结算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1874519" cy="5029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Microsoft YaHei"/>
              </a:defRPr>
            </a:pPr>
            <a:r>
              <a:t>任务模块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828800"/>
            <a:ext cx="1600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1691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TaskSystem</a:t>
            </a:r>
            <a:br/>
            <a:r>
              <a:t>• 4个任务模板</a:t>
            </a:r>
            <a:br/>
            <a:r>
              <a:t>• 从tasks.txt加载</a:t>
            </a:r>
            <a:br/>
            <a:br/>
            <a:r>
              <a:t>Task(状态机)</a:t>
            </a:r>
            <a:br/>
            <a:r>
              <a:t>NotAccepted→InProgress</a:t>
            </a:r>
            <a:br/>
            <a:r>
              <a:t>→Completed→RewardClaimed</a:t>
            </a:r>
            <a:br/>
            <a:r>
              <a:t>• 击杀计数追踪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371600"/>
            <a:ext cx="1874519" cy="5029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战斗模块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1600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965960"/>
            <a:ext cx="1691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EnemyInfo结构体</a:t>
            </a:r>
            <a:br/>
            <a:r>
              <a:t>3种校园怪物：</a:t>
            </a:r>
            <a:br/>
            <a:r>
              <a:t>• 懒散学渣(Lv1)</a:t>
            </a:r>
            <a:br/>
            <a:r>
              <a:t>• 熬夜复习怪(Lv2)</a:t>
            </a:r>
            <a:br/>
            <a:r>
              <a:t>• 期末Boss(Lv3)</a:t>
            </a:r>
            <a:br/>
            <a:br/>
            <a:r>
              <a:t>while回合制循环</a:t>
            </a:r>
            <a:br/>
            <a:r>
              <a:t>rand()随机伤害浮动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1371600"/>
            <a:ext cx="1874519" cy="5029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7CD5"/>
                </a:solidFill>
                <a:latin typeface="Microsoft YaHei"/>
              </a:defRPr>
            </a:pPr>
            <a:r>
              <a:t>技能模块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69880" y="1828800"/>
            <a:ext cx="160020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965960"/>
            <a:ext cx="1691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SkillFactory(工厂)</a:t>
            </a:r>
            <a:br/>
            <a:r>
              <a:t>管理6种技能模板</a:t>
            </a:r>
            <a:br/>
            <a:r>
              <a:t>clone()创建实例</a:t>
            </a:r>
            <a:br/>
            <a:br/>
            <a:r>
              <a:t>4类派生Skill：</a:t>
            </a:r>
            <a:br/>
            <a:r>
              <a:t>Melee/Magic/Heal/Debuff</a:t>
            </a:r>
            <a:br/>
            <a:r>
              <a:t>calcDamage()策略模式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类设计与UML — 完整类图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继承关系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Item多态体系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Item ──→ Food ──→ Medicine ──→ Equipment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(抽象基类)    (HP恢复)       (高额回血)        (永久加成)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Skill多态体系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Skill ──→ MeleeSkill / MagicSkill / HealSkill / DebuffSkill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(抽象基类)       (物理)          (魔法)        (治疗)         (减益)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角色类体系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BaseCharacter ──→ Player (技能/背包/任务容器)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组合/聚合关系 Composition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Inventory ◇──→ Item*  (vector容器)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Shop     ◇──→ Item*  (12种商品模板)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TaskSystem ◇──→ Task  (vector&lt;Task&gt;)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Player   ◇──→ Skill* (已学技能列表)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SaveManager ..→ Player (序列化依赖)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SkillFactory ..→ Skill (工厂创建)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Microsoft YaHei"/>
              </a:defRPr>
            </a:pPr>
            <a:r>
              <a:t>项目统计：15个核心类 | 3个抽象基类 | 4层最大继承深度 | 5种关联关系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069848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  BaseCharacter &lt;|--- Player</a:t>
            </a:r>
            <a:br/>
            <a:r>
              <a:t>       ↑                           Inventory ◇--- Item*</a:t>
            </a:r>
            <a:br/>
            <a:r>
              <a:t>  Item &lt;|--- Food &lt;|--- Medicine &lt;|--- Equipment    Shop ◇--- Item*</a:t>
            </a:r>
            <a:br/>
            <a:r>
              <a:t>  Skill &lt;|--- MeleeSkill / MagicSkill               TaskSystem ◇--- Task</a:t>
            </a:r>
            <a:br/>
            <a:r>
              <a:t>       &lt;|--- HealSkill / DebuffSkill                Player ◇--- Skill*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关键功能实现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1. 物品多态 — use()运行时分派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Item基类定义 pure virtual use(BaseCharacter&amp;)=0。三个派生类各实现不同use()策略：</a:t>
            </a:r>
            <a:br/>
            <a:r>
              <a:t>Food→target.addHP(m_hpRestore) | Medicine→target.addHP(高额) | Equipment→永久addAttack/addDefense</a:t>
            </a:r>
            <a:br/>
            <a:r>
              <a:t>背包使用vector&lt;Item*&gt;统一存储，遍历调用it-&gt;use(player)时C++虚函数表自动分派到正确实现。</a:t>
            </a:r>
            <a:br/>
            <a:r>
              <a:t>商店购买通过clone()原型模式创建物品副本，避免直接操作商店模板。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2. 回合制战斗 — while循环模拟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EnemyInfo结构体存储怪物(name/hp/atk/def/exp/gold)。while(pHp&gt;0&amp;&amp;eHp&gt;0&amp;&amp;rounds&lt;50)：</a:t>
            </a:r>
            <a:br/>
            <a:r>
              <a:t>玩家伤害=ATK+rand()%(ATK/2+1)-eDef | 敌方伤害=eAtk+rand()%(eAtk/2+1)-pDef | 最小值=1</a:t>
            </a:r>
            <a:br/>
            <a:r>
              <a:t>50回合上限防死循环。胜利→addExp+gainGold+击杀计数++→checkLevelUp()。失败→HP=1，无惩罚。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73152" cy="155448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3. 多线程自动存档 — Win32 CreateThread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MinGW 6.3.0不支持std::thread → CreateThread(NULL,0,proc,NULL,0,NULL)创建后台线程。</a:t>
            </a:r>
            <a:br/>
            <a:r>
              <a:t>autoSaveLoop(): for(int i=0;i&lt;60;i++)Sleep(1000); if(g_autoSaveRunning)SaveManager::save()</a:t>
            </a:r>
            <a:br/>
            <a:r>
              <a:t>volatile bool控制线程生命周期。退出: g_autoSaveRunning=false→WaitForSingleObject(5000)→CloseHandle。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关键功能实现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4. 等级自动成长 — checkLevelUp()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每次获得经验后调用checkLevelUp()。while循环：</a:t>
            </a:r>
            <a:br/>
            <a:r>
              <a:t>if(getExp()&gt;=expToNextLevel()){exp-=need;level++;maxHp+=20;atk+=5;hp=maxHp;recalcStats();}</a:t>
            </a:r>
            <a:br/>
            <a:r>
              <a:t>阈值公式：expToNextLevel(lv)=lv×30+20。Lv1→2需50EXP，Lv49→50需1490EXP。</a:t>
            </a:r>
            <a:br/>
            <a:r>
              <a:t>最高50级。溢出经验自动保留。升级时满血满蓝。全程自动化无需玩家手动操作。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5. UTF-8编码转换 — 解决中文乱码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编译选项-fexec-charset=UTF-8使窄字符串以UTF-8存入二进制。Win32 W-API需UTF-16 LE。</a:t>
            </a:r>
            <a:br/>
            <a:r>
              <a:t>原U2W/W2U/SetStatus使用CP_ACP(GBK/CP936)→中文乱码。</a:t>
            </a:r>
            <a:br/>
            <a:r>
              <a:t>解决方案：MultiByteToWideChar/WideCharToMultiByte的CodePage参数改为CP_UTF8。</a:t>
            </a:r>
            <a:br/>
            <a:r>
              <a:t>配合-finput-charset=UTF-8源文件编码，实现完整的UTF-8↔UTF-16正确互转。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73152" cy="155448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6. Win32 GUI架构 — 消息驱动模型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WinMain: 注册窗口类→CreateWindowExW创建主窗口→GetMessage/DispatchMessage消息循环。</a:t>
            </a:r>
            <a:br/>
            <a:r>
              <a:t>WndProc: WM_CREATE(9按钮+状态栏+字体) | WM_COMMAND(按钮→DialogBoxW模态对话框)</a:t>
            </a:r>
            <a:br/>
            <a:r>
              <a:t>WM_CLOSE→DestroyWindow | WM_DESTROY→清理资源+PostQuitMessage。</a:t>
            </a:r>
            <a:br/>
            <a:r>
              <a:t>resources.rc(GBK编码)定义8个对话框布局，windres编译为.o文件链接。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战斗系统 — 详细流程与怪物属性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战斗流程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1. 玩家点击[挑战战斗]→弹出对话框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2. 选择敌人(懒散学渣/熬夜怪/期末Boss)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3. 检查玩家HP&gt;0（否则提示恢复HP）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4. while(pHp&gt;0 &amp;&amp; eHp&gt;0 &amp;&amp; rounds&lt;50){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5.   玩家伤害=ATK+rand()%(ATK/2+1)-eDef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6.   敌方HP-=max(1,玩家伤害)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7.   if(敌方HP&lt;=0) break; // 胜利!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8.   敌方伤害=eAtk+rand()%(eAtk/2+1)-pDef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9.   玩家HP-=max(1,敌方伤害)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10.}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11. 胜利→addExp+gainGold+击杀计数+checkLevelUp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12. 失败→HP设为1，无惩罚结束战斗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三种校园怪物属性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Microsoft YaHei"/>
              </a:defRPr>
            </a:pPr>
            <a:r>
              <a:t>懒散学渣小怪 (新手级)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HP:80 | ATK:8 | DEF:2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94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01F"/>
                </a:solidFill>
                <a:latin typeface="Microsoft YaHei"/>
              </a:defRPr>
            </a:pPr>
            <a:r>
              <a:t>EXP:30 | 金币:15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校园最弱怪物，适合新手练级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383280"/>
            <a:ext cx="530352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Microsoft YaHei"/>
              </a:defRPr>
            </a:pPr>
            <a:r>
              <a:t>熬夜复习怪 (中等级)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HP:150 | ATK:15 | DEF:5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749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01F"/>
                </a:solidFill>
                <a:latin typeface="Microsoft YaHei"/>
              </a:defRPr>
            </a:pPr>
            <a:r>
              <a:t>EXP:65 | 金币:35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长期熬夜积攒的负能量怪物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937760"/>
            <a:ext cx="530352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983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Microsoft YaHei"/>
              </a:defRPr>
            </a:pPr>
            <a:r>
              <a:t>期末压力Boss (高级)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303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HP:300 | ATK:28 | DEF:10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3035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01F"/>
                </a:solidFill>
                <a:latin typeface="Microsoft YaHei"/>
              </a:defRPr>
            </a:pPr>
            <a:r>
              <a:t>EXP:150 | 金币:90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623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校园最强BOSS，奖励最丰厚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任务系统 — 4个校园任务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任务状态机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55448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NotAccepted</a:t>
            </a:r>
            <a:br/>
            <a:r>
              <a:t>(未接受)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828800"/>
            <a:ext cx="1554480" cy="7315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InProgress</a:t>
            </a:r>
            <a:br/>
            <a:r>
              <a:t>(进行中)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828800"/>
            <a:ext cx="1554480" cy="731520"/>
          </a:xfrm>
          <a:prstGeom prst="rect">
            <a:avLst/>
          </a:prstGeom>
          <a:solidFill>
            <a:srgbClr val="3A7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Completed</a:t>
            </a:r>
            <a:br/>
            <a:r>
              <a:t>(已完成)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98480" y="1828800"/>
            <a:ext cx="1554480" cy="7315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RewardClaimed</a:t>
            </a:r>
            <a:br/>
            <a:r>
              <a:t>(已领奖)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任务详情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0040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F"/>
                </a:solidFill>
                <a:latin typeface="Microsoft YaHei"/>
              </a:defRPr>
            </a:pPr>
            <a:r>
              <a:t>任务一：新手初试冒险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246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完成1场任意战斗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20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579A"/>
                </a:solidFill>
                <a:latin typeface="Microsoft YaHei"/>
              </a:defRPr>
            </a:pPr>
            <a:r>
              <a:t>EXP:80 | 金币:50 | 校园面包×2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7764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F"/>
                </a:solidFill>
                <a:latin typeface="Microsoft YaHei"/>
              </a:defRPr>
            </a:pPr>
            <a:r>
              <a:t>任务二：清理校园小怪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023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累计击杀3只懒散学渣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579A"/>
                </a:solidFill>
                <a:latin typeface="Microsoft YaHei"/>
              </a:defRPr>
            </a:pPr>
            <a:r>
              <a:t>EXP:120 | 金币:80 | 急救喷雾×1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75488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F"/>
                </a:solidFill>
                <a:latin typeface="Microsoft YaHei"/>
              </a:defRPr>
            </a:pPr>
            <a:r>
              <a:t>任务三：中级历练挑战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击败2只熬夜复习怪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579A"/>
                </a:solidFill>
                <a:latin typeface="Microsoft YaHei"/>
              </a:defRPr>
            </a:pPr>
            <a:r>
              <a:t>EXP:200 | 金币:120 | 运动护腕×1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F"/>
                </a:solidFill>
                <a:latin typeface="Microsoft YaHei"/>
              </a:defRPr>
            </a:pPr>
            <a:r>
              <a:t>任务四：攻克期末难关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577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击败1只期末压力Boss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52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579A"/>
                </a:solidFill>
                <a:latin typeface="Microsoft YaHei"/>
              </a:defRPr>
            </a:pPr>
            <a:r>
              <a:t>EXP:350 | 金币:200 | 全能药剂×2+学霸徽章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击杀计数联动机制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1828800"/>
            <a:ext cx="50292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1874519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C9B0"/>
                </a:solidFill>
                <a:latin typeface="Microsoft YaHei"/>
              </a:defRPr>
            </a:pPr>
            <a:r>
              <a:t>int g_killSlacker=0;   // 懒散学渣</a:t>
            </a:r>
            <a:br/>
            <a:r>
              <a:t>int g_killNightOwl=0;  // 熬夜复习怪</a:t>
            </a:r>
            <a:br/>
            <a:r>
              <a:t>int g_killBoss=0;      // 期末Boss</a:t>
            </a:r>
            <a:br/>
            <a:r>
              <a:t>int g_totalBattles=0;  // 总战斗数</a:t>
            </a:r>
            <a:br/>
            <a:br/>
            <a:r>
              <a:t>// 战斗胜利后自动更新</a:t>
            </a:r>
            <a:br/>
            <a:r>
              <a:t>if(sel==0) g_killSlacker++;</a:t>
            </a:r>
            <a:br/>
            <a:r>
              <a:t>if(sel==1) g_killNightOwl++;</a:t>
            </a:r>
            <a:br/>
            <a:r>
              <a:t>if(sel==2) g_killBoss++;</a:t>
            </a:r>
            <a:br/>
            <a:br/>
            <a:r>
              <a:t>// 任务完成判定</a:t>
            </a:r>
            <a:br/>
            <a:r>
              <a:t>case0: canComplete=(totalBattles&gt;=1)</a:t>
            </a:r>
            <a:br/>
            <a:r>
              <a:t>case1: canComplete=(killSlacker&gt;=3)</a:t>
            </a:r>
            <a:br/>
            <a:r>
              <a:t>case2: canComplete=(killNightOwl&gt;=2)</a:t>
            </a:r>
            <a:br/>
            <a:r>
              <a:t>case3: canComplete=(killBoss&gt;=1)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tasks.txt 文件格式 (UTF-8编码，管道符分隔)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名称|描述|条件|经验|金币</a:t>
            </a:r>
            <a:br/>
            <a:r>
              <a:t>新手初试冒险|初次开启校园冒险...|完成1场战斗|80|50</a:t>
            </a:r>
            <a:br/>
            <a:r>
              <a:t>清理校园小怪|维护校园和平...|击杀3只懒散学渣|120|80</a:t>
            </a:r>
            <a:br/>
            <a:r>
              <a:t>中级历练挑战|挑战中级怪物...|击败2只熬夜复习怪|200|120</a:t>
            </a:r>
            <a:br/>
            <a:r>
              <a:t>攻克期末难关|挑战校园最强BOSS...|击败1只期末Boss|350|200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测试与结果分析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498079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角色管理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2984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创建角色输入中文名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2984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名称正确显示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307592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307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角色管理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824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查看属性面板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824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Lv.1数据全部正确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691640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48256"/>
            <a:ext cx="7498079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665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背包管理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0665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打开空背包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0665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显示"背包是空的"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075688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0756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4505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商店系统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4505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购买校园面包(15G)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4505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金币-15,背包+1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459736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4597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16352"/>
            <a:ext cx="7498079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8346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商店系统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2834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出售物品(半价回收)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8346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金币+7,物品移除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843784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8437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2186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商店系统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2186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金币不足时购买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2186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提示"金币不足"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227832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3227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84448"/>
            <a:ext cx="7498079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0273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战斗系统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36027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挑战懒散学渣小怪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6027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回合制+30EXP+15G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611880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611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9867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战斗系统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39867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挑战期末压力Boss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39867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150EXP+90G奖励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3995928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399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352544"/>
            <a:ext cx="7498079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37083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战斗系统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43708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玩家HP归零战斗失败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43708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HP恢复为1，无惩罚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4379976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43799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7548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等级成长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03120" y="4754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EXP累积达到阈值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4754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自动升级,HP+20,ATK+5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4764024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47640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120640"/>
            <a:ext cx="7498079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1389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任务系统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3120" y="51389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接取→完成→领取奖励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51389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状态流转+奖励发放正确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5148072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51480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52297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存档系统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03120" y="55229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保存后关闭重新打开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55229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等级/金币/背包数据恢复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06640" y="5532120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0" y="5532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888736"/>
            <a:ext cx="7498079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90702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579A"/>
                </a:solidFill>
                <a:latin typeface="Microsoft YaHei"/>
              </a:defRPr>
            </a:pPr>
            <a:r>
              <a:t>中文显示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03120" y="59070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全界面物品/怪物/任务名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94960" y="59070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无任何中文乱码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5916168"/>
            <a:ext cx="45720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06640" y="5916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关键问题与解决方案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1920240"/>
            <a:ext cx="3657600" cy="1005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Microsoft YaHei"/>
              </a:defRPr>
            </a:pPr>
            <a:r>
              <a:t>问题1：中文乱码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编译选项-fexec-charset=UTF-8输出UTF-8窄字符串，但U2W/W2U使用CP_ACP(GBK)导致乱码。</a:t>
            </a:r>
            <a:br/>
            <a:r>
              <a:t>→ 将MultiByteToWideChar的CodePage从CP_ACP改为CP_UTF8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0" y="3063240"/>
            <a:ext cx="3657600" cy="1005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1248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Microsoft YaHei"/>
              </a:defRPr>
            </a:pPr>
            <a:r>
              <a:t>问题2：调试对话框bug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2480" y="3383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商店初始化代码中含wsprintfW(%s传入char*)类型不匹配的调试消息框。</a:t>
            </a:r>
            <a:br/>
            <a:r>
              <a:t>→ 移除调试代码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4206240"/>
            <a:ext cx="3657600" cy="1005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1248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Microsoft YaHei"/>
              </a:defRPr>
            </a:pPr>
            <a:r>
              <a:t>问题3：构建工具缺失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0" y="4526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MinGW安装不含mingw32-make，CMake无法生成Makefile。</a:t>
            </a:r>
            <a:br/>
            <a:r>
              <a:t>→ 改用g++命令行直接编译，更新CMakeLists.txt补充所有源文件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29600" y="5349240"/>
            <a:ext cx="3657600" cy="1005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12480" y="5394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Microsoft YaHei"/>
              </a:defRPr>
            </a:pPr>
            <a:r>
              <a:t>问题4：编码策略统一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5669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L"..."宽字符串可正常显示但窄字符串需U2W转换。</a:t>
            </a:r>
            <a:br/>
            <a:r>
              <a:t>→ 确认统一使用UTF-8编码策略(-fexec-charset=UTF-8 + CP_UTF8)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62819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测试统计：13个测试用例 | 13个通过 | 0个失败 | 通过率 100% | 覆盖6大模块全部核心功能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项目成果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✓ 完整实现6大核心功能模块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✓ 完成2项挑战任务（多态继承+技能系统）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✓ 代码量3000+行，15个核心类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✓ Win32 GUI中文界面，9按钮8对话框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✓ 文件持久化+多线程自动存档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✓ 12种道具、4个任务、3种怪物、6种技能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✓ 13项测试全部通过，通过率100%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技术收获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继承与多态 — Item/Skill双体系，虚函数/RTTI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STL容器 — vector管理对象集合，string/sstream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设计模式 — 工厂/原型/策略/模板方法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Win32编程 — 消息循环/对话框/GDI字体渲染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编码国际化 — UTF-8/GBK/UTF-16转换机制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多线程编程 — CreateThread/volatile/同步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项目管理 — Git协作/模块化开发/接口约定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120640"/>
            <a:ext cx="1874519" cy="1463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51663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SQLite数据库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4681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道具/任务/怪物结构化存储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97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支持复杂查询和管理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5120640"/>
            <a:ext cx="1874519" cy="1463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51663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音效系统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4681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WAV/MP3背景音乐和战斗音效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897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增强游戏沉浸感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5120640"/>
            <a:ext cx="1874519" cy="1463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51663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地图探索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4681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校园场景地图系统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897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不同区域分布NPC和怪物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120640"/>
            <a:ext cx="1874519" cy="1463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1663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装备强化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4681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升级/附魔/套装属性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897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进阶角色养成玩法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5120640"/>
            <a:ext cx="1874519" cy="1463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51663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网络排行榜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4681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HTTP服务器排名功能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897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玩家等级和战斗排名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5120640"/>
            <a:ext cx="1874519" cy="14630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51663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跨平台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54681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SDL2/Qt替代Win32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5897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支持Linux/macOS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17520" cy="27432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BBCC"/>
                </a:solidFill>
                <a:latin typeface="Microsoft YaHei"/>
              </a:defRPr>
            </a:pPr>
            <a:r>
              <a:t>校园RPG冒险游戏 · C++面向对象课程设计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组长：张佳怡  |  学号：1030425404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CC"/>
                </a:solidFill>
                <a:latin typeface="Microsoft YaHei"/>
              </a:defRPr>
            </a:pPr>
            <a:r>
              <a:t>人工智能与自动化学院 · 计算机科学与技术 · 2026年7月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01F"/>
                </a:solidFill>
                <a:latin typeface="Microsoft YaHei"/>
              </a:defRPr>
            </a:pPr>
            <a: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