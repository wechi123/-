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Microsoft YaHei"/>
              </a:defRPr>
            </a:pPr>
            <a:r>
              <a:t>校园RPG冒险游戏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D4A01F"/>
                </a:solidFill>
                <a:latin typeface="Microsoft YaHei"/>
              </a:defRPr>
            </a:pPr>
            <a:r>
              <a:t>C++面向对象程序设计 · 课程设计汇报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474720"/>
            <a:ext cx="301752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  <a:latin typeface="Microsoft YaHei"/>
              </a:defRPr>
            </a:pPr>
            <a:r>
              <a:t>C++17 + Win32 API + MinGW GCC 6.3.0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Microsoft YaHei"/>
              </a:defRPr>
            </a:pPr>
            <a:r>
              <a:t>组长：张佳怡    学号：1030425404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BBCC"/>
                </a:solidFill>
                <a:latin typeface="Microsoft YaHei"/>
              </a:defRPr>
            </a:pPr>
            <a:r>
              <a:t>人工智能与自动化学院 · 计科2504 · 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汇报提纲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463040"/>
            <a:ext cx="502920" cy="411480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087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项目背景与目标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2011680"/>
            <a:ext cx="502920" cy="411480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5740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0574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项目特色与创新（2项挑战任务）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2560320"/>
            <a:ext cx="502920" cy="41148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0604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6060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项目管理（团队分工+进度安排）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108960"/>
            <a:ext cx="502920" cy="41148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15468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1546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需求分析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3657600"/>
            <a:ext cx="502920" cy="41148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0332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7033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系统设计（架构+模块+数据流）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206240"/>
            <a:ext cx="502920" cy="41148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425196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251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类设计与UML（继承+组合）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754880"/>
            <a:ext cx="502920" cy="41148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0060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00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关键功能实现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7280" y="5303520"/>
            <a:ext cx="502920" cy="41148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34924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349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测试与结果分析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852160"/>
            <a:ext cx="502920" cy="41148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897880"/>
            <a:ext cx="502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58978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333333"/>
                </a:solidFill>
                <a:latin typeface="Microsoft YaHei"/>
              </a:defRPr>
            </a:pPr>
            <a:r>
              <a:t>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项目背景与目标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项目类型：基于C++17的Windows GUI校园冒险RPG游戏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游戏世界观：以校园生活为冒险背景，轻松休闲的角色扮演世界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玩家角色：扮演校园冒险者，探索校园、遭遇怪物、完成任务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开发模式：小组合作（4人），面向对象分析设计与编程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技术栈：C++17 + Win32 API + SQLite + MinGW GCC 6.3.0 + CMake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核心特性：类继承、多态、虚函数、STL容器、文件持久化、多线程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代码规模：约3000行源代码，包含15个核心类，6大功能模块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界面风格：矩形按钮交互，微软雅黑字体，中文界面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Microsoft YaHei"/>
              </a:defRPr>
            </a:pPr>
            <a:r>
              <a:t>• 挑战任务：SQLite数据库存储 + 多线程自动存档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463040"/>
            <a:ext cx="3657600" cy="7315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5087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579A"/>
                </a:solidFill>
                <a:latin typeface="Microsoft YaHei"/>
              </a:defRPr>
            </a:pPr>
            <a:r>
              <a:t>15+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1645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核心类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2331720"/>
            <a:ext cx="3657600" cy="7315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579A"/>
                </a:solidFill>
                <a:latin typeface="Microsoft YaHei"/>
              </a:defRPr>
            </a:pPr>
            <a:r>
              <a:t>3000+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代码行数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3200400"/>
            <a:ext cx="3657600" cy="7315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324612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579A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3383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功能模块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069080"/>
            <a:ext cx="3657600" cy="7315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1148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579A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2519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游戏道具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4937760"/>
            <a:ext cx="3657600" cy="7315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98348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579A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校园任务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5806440"/>
            <a:ext cx="3657600" cy="7315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585216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B579A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5989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YaHei"/>
              </a:defRPr>
            </a:pPr>
            <a:r>
              <a:t>怪物类型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项目特色与创新 — 2项挑战任务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303520" cy="25603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C6E"/>
                </a:solidFill>
                <a:latin typeface="Microsoft YaHei"/>
              </a:defRPr>
            </a:pPr>
            <a:r>
              <a:t>挑战1：SQLite数据库存储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148840"/>
            <a:ext cx="4846320" cy="27432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集成SQLite轻量级嵌入式数据库引擎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将道具数据、任务数据、怪物基础数据存入数据库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实现结构化数据管理，支持SQL查询操作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替代传统文件I/O，提升数据管理效率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数据库表设计：items / tasks / enemies 三张核心表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5029200" cy="25603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3C6E"/>
                </a:solidFill>
                <a:latin typeface="Microsoft YaHei"/>
              </a:defRPr>
            </a:pPr>
            <a:r>
              <a:t>挑战2：多线程自动存档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148840"/>
            <a:ext cx="4572000" cy="27432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28600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使用Win32 CreateThread API创建后台存档线程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每隔60秒自动保存角色数据、背包数据、任务进度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volatile标志位实现线程间安全通信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WaitForSingleObject确保线程安全退出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防止游戏崩溃或意外关闭导致数据丢失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技术亮点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292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2B579A"/>
                </a:solidFill>
                <a:latin typeface="Microsoft YaHei"/>
              </a:defRPr>
            </a:pPr>
            <a:r>
              <a:t>• SQLite嵌入式数据库：零配置、无服务器、轻量级，完美适配单机游戏数据存储</a:t>
            </a:r>
          </a:p>
          <a:p>
            <a:pPr>
              <a:spcAft>
                <a:spcPts val="1000"/>
              </a:spcAft>
              <a:defRPr sz="1400">
                <a:solidFill>
                  <a:srgbClr val="2B579A"/>
                </a:solidFill>
                <a:latin typeface="Microsoft YaHei"/>
              </a:defRPr>
            </a:pPr>
            <a:r>
              <a:t>• 多线程自动存档：后台静默运行，不阻塞主线程GUI响应，保障数据安全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挑战1详解 — SQLite数据库存储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SQLite集成方案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00" cy="41148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SQLite是一个轻量级嵌入式关系数据库引擎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无需独立服务器进程，直接读写本地.db文件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将sqlite3.c/sqlite3.h源文件嵌入项目编译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通过C API (sqlite3_open/sqlite3_exec等)操作数据库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数据库表设计：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items表：id/name/type/price/effect/description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tasks表：id/name/desc/condition/exp_reward/gold_reward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enemies表：id/name/hp/atk/def/exp_reward/gold_reward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优势：结构化查询、数据完整性约束、事务支持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相比文件I/O：支持条件查询、排序、聚合统计</a:t>
            </a:r>
          </a:p>
          <a:p>
            <a:pPr>
              <a:spcAft>
                <a:spcPts val="5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数据一致性：外键约束、唯一索引、事务回滚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核心代码示例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828800"/>
            <a:ext cx="5029200" cy="22860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1874519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EC9B0"/>
                </a:solidFill>
                <a:latin typeface="Microsoft YaHei"/>
              </a:defRPr>
            </a:pPr>
            <a:r>
              <a:t>sqlite3* db;</a:t>
            </a:r>
            <a:br/>
            <a:r>
              <a:t>sqlite3_open("game.db", &amp;db);</a:t>
            </a:r>
            <a:br/>
            <a:br/>
            <a:r>
              <a:t>// 创建道具表</a:t>
            </a:r>
            <a:br/>
            <a:r>
              <a:t>const char* sql =</a:t>
            </a:r>
            <a:br/>
            <a:r>
              <a:t> "CREATE TABLE items(</a:t>
            </a:r>
            <a:br/>
            <a:r>
              <a:t>  id INT PRIMARY KEY,</a:t>
            </a:r>
            <a:br/>
            <a:r>
              <a:t>  name TEXT, type TEXT,</a:t>
            </a:r>
            <a:br/>
            <a:r>
              <a:t>  price INT, effect TEXT);";</a:t>
            </a:r>
            <a:br/>
            <a:r>
              <a:t>sqlite3_exec(db, sql, 0, 0, 0);</a:t>
            </a:r>
            <a:br/>
            <a:br/>
            <a:r>
              <a:t>// 查询所有道具</a:t>
            </a:r>
            <a:br/>
            <a:r>
              <a:t>sqlite3_exec(db,</a:t>
            </a:r>
            <a:br/>
            <a:r>
              <a:t> "SELECT * FROM items;",</a:t>
            </a:r>
            <a:br/>
            <a:r>
              <a:t> callback, 0, 0);</a:t>
            </a:r>
            <a:br/>
            <a:r>
              <a:t>sqlite3_close(db);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数据库 vs 文件I/O对比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4846320"/>
            <a:ext cx="5029200" cy="1645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4937760"/>
            <a:ext cx="4572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SQLite：支持SQL查询/条件筛选/聚合/事务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文件I/O：顺序读写/管道符分隔/手动解析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SQLite更灵活：可按类型/价格/效果查询道具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SQLite更安全：事务保证写入原子性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挑战2详解 — 多线程自动存档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多线程架构设计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943600" cy="43891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MinGW GCC 6.3.0不完全支持std::thread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使用Win32原生API：CreateThread创建后台线程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线程创建：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HANDLE h = CreateThread(NULL, 0,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    autoSaveThreadProc, NULL, 0, NULL);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线程循环(autoSaveLoop)：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while(g_autoSaveRunning) {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  for(int i=0;i&lt;60;i++) Sleep(1000);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  if(g_autoSaveRunning)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    SaveManager::savePlayerData(g_player);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  }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线程安全机制：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volatile bool g_autoSaveRunning 标志位控制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退出时: g_autoSaveRunning=false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WaitForSingleObject(h,5000) 等待线程结束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CloseHandle(h) 释放线程资源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存档数据内容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1828800"/>
            <a:ext cx="4572000" cy="2286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1920240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角色数据：名称/等级/HP/EXP/金币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属性数据：STR/VIT/AGI/INT/DEF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背包数据：所有道具ID和数量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任务进度：各任务状态和击杀计数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技能数据：已学技能及等级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保存格式：管道符分隔的自定义格式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兼容SQLite数据库表结构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389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存档与读档流程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84632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自动存档：每60秒后台静默保存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手动存档：点击[保存存档]按钮即时保存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自动读档：程序启动时检测存档文件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手动读档：点击[读取存档]按钮恢复数据</a:t>
            </a:r>
          </a:p>
          <a:p>
            <a:pPr>
              <a:spcAft>
                <a:spcPts val="600"/>
              </a:spcAft>
              <a:defRPr sz="1300">
                <a:solidFill>
                  <a:srgbClr val="333333"/>
                </a:solidFill>
                <a:latin typeface="Microsoft YaHei"/>
              </a:defRPr>
            </a:pPr>
            <a:r>
              <a:t>• 存档文件：data/player_save.txt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项目管理 — 团队分工与进度安排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3891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序号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角色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姓名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学号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班级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职责分工</a:t>
                      </a:r>
                    </a:p>
                  </a:txBody>
                  <a:tcPr>
                    <a:solidFill>
                      <a:srgbClr val="1A3C6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组长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张佳怡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1030425404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计科2504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核心主循环、GameConfig配置、ConsoleUI界面渲染、BattleSystem/Enemy战斗系统、main.cpp入口、模块集成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组员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孙赫研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1030425403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计科2504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Character角色类(创建/属性/序列化)、等级成长、SaveManager数据持久化、data/数据文件维护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组员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卢宇涵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1030425405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计科2504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Item物品类体系(食物/药品/装备派生+多态)、Inventory背包管理、Shop商店系统、挑战一：SQLite</a:t>
                      </a:r>
                    </a:p>
                  </a:txBody>
                  <a:tcPr>
                    <a:solidFill>
                      <a:srgbClr val="F0F2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组员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何雨婷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1030425406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计科2504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Task/TaskSystem任务系统、挑战二：多线程自动存档、测试/文档/PPT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931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项目进度甘特图（12周）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389120"/>
            <a:ext cx="1737360" cy="1005840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34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需求分析</a:t>
            </a:r>
            <a:br/>
            <a:r>
              <a:t>UML建模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第1-2周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4846320"/>
            <a:ext cx="320040" cy="5486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77440" y="4389120"/>
            <a:ext cx="1737360" cy="1005840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4434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核心类实现</a:t>
            </a:r>
            <a:br/>
            <a:r>
              <a:t>角色/道具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4937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第3-4周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4846320"/>
            <a:ext cx="320040" cy="5486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4389120"/>
            <a:ext cx="1737360" cy="100584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4434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进阶功能</a:t>
            </a:r>
            <a:br/>
            <a:r>
              <a:t>战斗/任务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937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第5-6周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4846320"/>
            <a:ext cx="320040" cy="5486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389120"/>
            <a:ext cx="1737360" cy="100584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4434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GUI开发</a:t>
            </a:r>
            <a:br/>
            <a:r>
              <a:t>Win32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4937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第7-8周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4846320"/>
            <a:ext cx="320040" cy="5486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4389120"/>
            <a:ext cx="1737360" cy="100584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4434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SQLite+多线程</a:t>
            </a:r>
            <a:br/>
            <a:r>
              <a:t>存档集成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937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第9-10周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84080" y="4846320"/>
            <a:ext cx="320040" cy="54864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58400" y="4389120"/>
            <a:ext cx="1737360" cy="1005840"/>
          </a:xfrm>
          <a:prstGeom prst="rect">
            <a:avLst/>
          </a:prstGeom>
          <a:solidFill>
            <a:srgbClr val="3A7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443484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测试与</a:t>
            </a:r>
            <a:br/>
            <a:r>
              <a:t>文档撰写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49377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icrosoft YaHei"/>
              </a:defRPr>
            </a:pPr>
            <a:r>
              <a:t>第11-12周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79A"/>
                </a:solidFill>
                <a:latin typeface="Microsoft YaHei"/>
              </a:defRPr>
            </a:pPr>
            <a:r>
              <a:t>协作方式：Git版本控制 + 模块化开发 + 接口约定(头文件先行) + 定期Code Review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需求分析 — 功能需求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29260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79A"/>
                </a:solidFill>
                <a:latin typeface="Microsoft YaHei"/>
              </a:defRPr>
            </a:pPr>
            <a:r>
              <a:t>角色管理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965960"/>
            <a:ext cx="1554480" cy="27432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创建/查看/存读档</a:t>
            </a:r>
            <a:br/>
            <a:r>
              <a:t>名称、等级Lv1~50</a:t>
            </a:r>
            <a:br/>
            <a:r>
              <a:t>HP/MP/EXP/金币</a:t>
            </a:r>
            <a:br/>
            <a:r>
              <a:t>STR/VIT/AGI/INT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1463040"/>
            <a:ext cx="1828800" cy="29260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79A"/>
                </a:solidFill>
                <a:latin typeface="Microsoft YaHei"/>
              </a:defRPr>
            </a:pPr>
            <a:r>
              <a:t>背包管理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1965960"/>
            <a:ext cx="1554480" cy="27432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获得/查看/使用/删除</a:t>
            </a:r>
            <a:br/>
            <a:r>
              <a:t>3类12种道具</a:t>
            </a:r>
            <a:br/>
            <a:r>
              <a:t>食物/药品/装备</a:t>
            </a:r>
            <a:br/>
            <a:r>
              <a:t>无限容量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463040"/>
            <a:ext cx="1828800" cy="29260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79A"/>
                </a:solidFill>
                <a:latin typeface="Microsoft YaHei"/>
              </a:defRPr>
            </a:pPr>
            <a:r>
              <a:t>商店系统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80" y="1965960"/>
            <a:ext cx="1554480" cy="27432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查看/购买/出售</a:t>
            </a:r>
            <a:br/>
            <a:r>
              <a:t>12种固定商品</a:t>
            </a:r>
            <a:br/>
            <a:r>
              <a:t>半价回收结算</a:t>
            </a:r>
            <a:br/>
            <a:r>
              <a:t>实时金币更新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463040"/>
            <a:ext cx="1828800" cy="29260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任务系统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1965960"/>
            <a:ext cx="1554480" cy="2743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查看/接受/完成/领奖</a:t>
            </a:r>
            <a:br/>
            <a:r>
              <a:t>4个梯度任务</a:t>
            </a:r>
            <a:br/>
            <a:r>
              <a:t>击杀计数追踪</a:t>
            </a:r>
            <a:br/>
            <a:r>
              <a:t>状态机流转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1463040"/>
            <a:ext cx="1828800" cy="29260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战斗系统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1965960"/>
            <a:ext cx="1554480" cy="2743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选择/攻击/受击</a:t>
            </a:r>
            <a:br/>
            <a:r>
              <a:t>3种校园怪物</a:t>
            </a:r>
            <a:br/>
            <a:r>
              <a:t>回合制自动战斗</a:t>
            </a:r>
            <a:br/>
            <a:r>
              <a:t>EXP+金币奖励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87000" y="1463040"/>
            <a:ext cx="1828800" cy="292608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15544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等级成长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24160" y="1965960"/>
            <a:ext cx="1554480" cy="2743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2103120"/>
            <a:ext cx="1645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33333"/>
                </a:solidFill>
                <a:latin typeface="Microsoft YaHei"/>
              </a:defRPr>
            </a:pPr>
            <a:r>
              <a:t>经验累计</a:t>
            </a:r>
            <a:br/>
            <a:r>
              <a:t>自动检测升级</a:t>
            </a:r>
            <a:br/>
            <a:r>
              <a:t>HP+20/ATK+5每级</a:t>
            </a:r>
            <a:br/>
            <a:r>
              <a:t>最高50级上限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非功能需求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9377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性能：GUI响应&lt;500ms | 战斗结算&lt;200ms | 存档写入&lt;100ms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可靠性：多线程自动存档每60秒 | volatile标志位线程安全 | SQLite事务保证数据一致性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可用性：微软雅黑字体渲染 | 中文界面无乱码 | 矩形按钮直观交互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可维护性：头文件与实现分离 | 命名空间RPG | 清晰的注释规范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可扩展性：虚函数接口继承扩展 | 工厂模式注册新类型 | CMake模块化构建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Microsoft YaHei"/>
              </a:defRPr>
            </a:pPr>
            <a:r>
              <a:t>• 兼容性：Windows 7/10/11 | MinGW GCC 6.3.0+ | SQLite嵌入式无需额外安装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系统设计 — 三层架构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1033272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2344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B579A"/>
                </a:solidFill>
                <a:latin typeface="Microsoft YaHei"/>
              </a:defRPr>
            </a:pPr>
            <a:r>
              <a:t>表示层 — Win32 GUI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1572768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main.cpp  WndProc消息循环  9按钮事件分发</a:t>
            </a:r>
            <a:br/>
            <a:r>
              <a:t>8个模态对话框(DialogBoxW)  resources.rc资源文件</a:t>
            </a:r>
            <a:br/>
            <a:r>
              <a:t>微软雅黑GDI字体渲染  状态栏实时信息展示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0116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4A01F"/>
                </a:solidFill>
                <a:latin typeface="Microsoft YaHei"/>
              </a:defRPr>
            </a:pPr>
            <a:r>
              <a:t>—— 全局变量交互 g_player/g_inventory/g_shop/g_taskSystem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200400"/>
            <a:ext cx="1033272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C6E"/>
                </a:solidFill>
                <a:latin typeface="Microsoft YaHei"/>
              </a:defRPr>
            </a:pPr>
            <a:r>
              <a:t>业务逻辑层 — 15个核心类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584448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Player角色属性/等级/技能/金币  Inventory背包(vector&lt;Item*&gt;)</a:t>
            </a:r>
            <a:br/>
            <a:r>
              <a:t>Shop商店(12商品模板)  TaskSystem任务管理(状态机)</a:t>
            </a:r>
            <a:br/>
            <a:r>
              <a:t>Skill体系  Item体系(12道具多态)  SQLite Database封装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4A01F"/>
                </a:solidFill>
                <a:latin typeface="Microsoft YaHei"/>
              </a:defRPr>
            </a:pPr>
            <a:r>
              <a:t>—— 序列化接口 serialize/deserialize ——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212080"/>
            <a:ext cx="1033272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25780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A7CD5"/>
                </a:solidFill>
                <a:latin typeface="Microsoft YaHei"/>
              </a:defRPr>
            </a:pPr>
            <a:r>
              <a:t>数据持久层 — SQLite + 文件I/O + 多线程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596128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SQLite数据库：items/tasks/enemies结构化存储</a:t>
            </a:r>
            <a:br/>
            <a:r>
              <a:t>SaveManager玩家数据存读档  tasks.txt任务模板(UTF-8)</a:t>
            </a:r>
            <a:br/>
            <a:r>
              <a:t>Win32 CreateThread后台线程  每60秒自动保存</a:t>
            </a:r>
            <a:br/>
            <a:r>
              <a:t>volatile标志位线程通信  WaitForSingleObject安全退出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系统设计 — 六大模块详解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1874519" cy="50292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6304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79A"/>
                </a:solidFill>
                <a:latin typeface="Microsoft YaHei"/>
              </a:defRPr>
            </a:pPr>
            <a:r>
              <a:t>角色模块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828800"/>
            <a:ext cx="160020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65960"/>
            <a:ext cx="1691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BaseCharacter(抽象基类)</a:t>
            </a:r>
            <a:br/>
            <a:r>
              <a:t>• 通用属性/战斗接口</a:t>
            </a:r>
            <a:br/>
            <a:r>
              <a:t>• 虚函数serialize()</a:t>
            </a:r>
            <a:br/>
            <a:br/>
            <a:r>
              <a:t>Player(派生类)</a:t>
            </a:r>
            <a:br/>
            <a:r>
              <a:t>• exp/gold/skillPoint</a:t>
            </a:r>
            <a:br/>
            <a:r>
              <a:t>• 技能/背包/任务容器</a:t>
            </a:r>
            <a:br/>
            <a:r>
              <a:t>• 等级成长/金币操作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1371600"/>
            <a:ext cx="1874519" cy="50292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40" y="146304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道具模块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1828800"/>
            <a:ext cx="160020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965960"/>
            <a:ext cx="1691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Item(抽象基类)</a:t>
            </a:r>
            <a:br/>
            <a:r>
              <a:t>• use()/clone()纯虚函数</a:t>
            </a:r>
            <a:br/>
            <a:br/>
            <a:r>
              <a:t>Food(食物)</a:t>
            </a:r>
            <a:br/>
            <a:r>
              <a:t>• HP恢复25~65</a:t>
            </a:r>
            <a:br/>
            <a:br/>
            <a:r>
              <a:t>Medicine(药品)</a:t>
            </a:r>
            <a:br/>
            <a:r>
              <a:t>• HP恢复50~9999</a:t>
            </a:r>
            <a:br/>
            <a:br/>
            <a:r>
              <a:t>Equipment(装备)</a:t>
            </a:r>
            <a:br/>
            <a:r>
              <a:t>• 永久ATK/DEF加成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1874519" cy="50292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6304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A7CD5"/>
                </a:solidFill>
                <a:latin typeface="Microsoft YaHei"/>
              </a:defRPr>
            </a:pPr>
            <a:r>
              <a:t>背包+商店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828800"/>
            <a:ext cx="160020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965960"/>
            <a:ext cx="1691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Inventory(背包)</a:t>
            </a:r>
            <a:br/>
            <a:r>
              <a:t>• vector&lt;Item*&gt;管理</a:t>
            </a:r>
            <a:br/>
            <a:r>
              <a:t>• 增删查改/序列化</a:t>
            </a:r>
            <a:br/>
            <a:br/>
            <a:r>
              <a:t>Shop(商店)</a:t>
            </a:r>
            <a:br/>
            <a:r>
              <a:t>• 12种商品模板</a:t>
            </a:r>
            <a:br/>
            <a:r>
              <a:t>• 购买clone/出售半价</a:t>
            </a:r>
            <a:br/>
            <a:r>
              <a:t>• 自动金币结算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371600"/>
            <a:ext cx="1874519" cy="50292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46304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79A"/>
                </a:solidFill>
                <a:latin typeface="Microsoft YaHei"/>
              </a:defRPr>
            </a:pPr>
            <a:r>
              <a:t>任务模块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828800"/>
            <a:ext cx="160020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965960"/>
            <a:ext cx="1691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TaskSystem</a:t>
            </a:r>
            <a:br/>
            <a:r>
              <a:t>• 4个任务模板</a:t>
            </a:r>
            <a:br/>
            <a:r>
              <a:t>• 从tasks.txt加载</a:t>
            </a:r>
            <a:br/>
            <a:br/>
            <a:r>
              <a:t>Task(状态机)</a:t>
            </a:r>
            <a:br/>
            <a:r>
              <a:t>NotAccepted→InProgress</a:t>
            </a:r>
            <a:br/>
            <a:r>
              <a:t>→Completed→RewardClaimed</a:t>
            </a:r>
            <a:br/>
            <a:r>
              <a:t>• 击杀计数追踪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1371600"/>
            <a:ext cx="1874519" cy="50292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46304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战斗模块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1828800"/>
            <a:ext cx="160020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965960"/>
            <a:ext cx="1691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EnemyInfo结构体</a:t>
            </a:r>
            <a:br/>
            <a:r>
              <a:t>3种校园怪物：</a:t>
            </a:r>
            <a:br/>
            <a:r>
              <a:t>• 懒散学渣(Lv1)</a:t>
            </a:r>
            <a:br/>
            <a:r>
              <a:t>• 熬夜复习怪(Lv2)</a:t>
            </a:r>
            <a:br/>
            <a:r>
              <a:t>• 期末Boss(Lv3)</a:t>
            </a:r>
            <a:br/>
            <a:br/>
            <a:r>
              <a:t>while回合制循环</a:t>
            </a:r>
            <a:br/>
            <a:r>
              <a:t>rand()随机伤害浮动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720" y="1371600"/>
            <a:ext cx="1874519" cy="50292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60" y="146304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A7CD5"/>
                </a:solidFill>
                <a:latin typeface="Microsoft YaHei"/>
              </a:defRPr>
            </a:pPr>
            <a:r>
              <a:t>数据库+存档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69880" y="1828800"/>
            <a:ext cx="160020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0" y="1965960"/>
            <a:ext cx="1691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SQLite集成</a:t>
            </a:r>
            <a:br/>
            <a:r>
              <a:t>• items/tasks/enemies表</a:t>
            </a:r>
            <a:br/>
            <a:r>
              <a:t>• sqlite3 C API操作</a:t>
            </a:r>
            <a:br/>
            <a:br/>
            <a:r>
              <a:t>多线程存档</a:t>
            </a:r>
            <a:br/>
            <a:r>
              <a:t>• CreateThread后台线程</a:t>
            </a:r>
            <a:br/>
            <a:r>
              <a:t>• 每60秒自动保存</a:t>
            </a:r>
            <a:br/>
            <a:r>
              <a:t>• volatile线程安全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类设计与UML — 完整类图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继承关系 Inheritance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79A"/>
                </a:solidFill>
                <a:latin typeface="Microsoft YaHei"/>
              </a:defRPr>
            </a:pPr>
            <a:r>
              <a:t>Item多态体系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Item ──→ Food ──→ Medicine ──→ Equipment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(抽象基类)    (HP恢复)       (高额回血)        (永久加成)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79A"/>
                </a:solidFill>
                <a:latin typeface="Microsoft YaHei"/>
              </a:defRPr>
            </a:pPr>
            <a:r>
              <a:t>Skill多态体系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Skill ──→ MeleeSkill / MagicSkill / HealSkill / DebuffSkill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(抽象基类)       (物理)          (魔法)        (治疗)         (减益)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79A"/>
                </a:solidFill>
                <a:latin typeface="Microsoft YaHei"/>
              </a:defRPr>
            </a:pPr>
            <a:r>
              <a:t>角色类体系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4846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BaseCharacter ──→ Player (技能/背包/任务容器)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组合/聚合关系 Composition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• Inventory ◇──→ Item*  (vector容器)</a:t>
            </a:r>
          </a:p>
          <a:p>
            <a:pPr>
              <a:spcAft>
                <a:spcPts val="12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• Shop     ◇──→ Item*  (12种商品模板)</a:t>
            </a:r>
          </a:p>
          <a:p>
            <a:pPr>
              <a:spcAft>
                <a:spcPts val="12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• TaskSystem ◇──→ Task  (vector&lt;Task&gt;)</a:t>
            </a:r>
          </a:p>
          <a:p>
            <a:pPr>
              <a:spcAft>
                <a:spcPts val="12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• Player   ◇──→ Skill* (已学技能列表)</a:t>
            </a:r>
          </a:p>
          <a:p>
            <a:pPr>
              <a:spcAft>
                <a:spcPts val="12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• SaveManager ..→ Player (序列化依赖)</a:t>
            </a:r>
          </a:p>
          <a:p>
            <a:pPr>
              <a:spcAft>
                <a:spcPts val="12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• SkillFactory ..→ Skill (工厂创建)</a:t>
            </a:r>
          </a:p>
          <a:p>
            <a:pPr>
              <a:spcAft>
                <a:spcPts val="12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• Database ..→ Item/Task/Enemy (SQLite)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79A"/>
                </a:solidFill>
                <a:latin typeface="Microsoft YaHei"/>
              </a:defRPr>
            </a:pPr>
            <a:r>
              <a:t>项目统计：15个核心类 | 3个抽象基类 | 4层最大继承深度 | SQLite数据库集成 | 多线程自动存档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关键功能实现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3152" cy="1188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C6E"/>
                </a:solidFill>
                <a:latin typeface="Microsoft YaHei"/>
              </a:defRPr>
            </a:pPr>
            <a:r>
              <a:t>1. SQLite数据库集成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将sqlite3.c/sqlite3.h源文件直接编译进项目，无需外部依赖。</a:t>
            </a:r>
            <a:br/>
            <a:r>
              <a:t>设计三张核心表：items(道具)、tasks(任务)、enemies(怪物)。</a:t>
            </a:r>
            <a:br/>
            <a:r>
              <a:t>通过sqlite3_open/sqlite3_exec/sqlite3_close等C API操作数据库。</a:t>
            </a:r>
            <a:br/>
            <a:r>
              <a:t>实现道具查询(按类型/价格)、任务加载、怪物属性读取等SQL操作。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73152" cy="1188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C6E"/>
                </a:solidFill>
                <a:latin typeface="Microsoft YaHei"/>
              </a:defRPr>
            </a:pPr>
            <a:r>
              <a:t>2. 多线程自动存档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718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使用Win32 CreateThread API创建后台存档线程(autoSaveThreadProc)。</a:t>
            </a:r>
            <a:br/>
            <a:r>
              <a:t>autoSaveLoop(): 每60次Sleep(1000)后检查volatile标志位g_autoSaveRunning。</a:t>
            </a:r>
            <a:br/>
            <a:r>
              <a:t>若游戏已初始化且线程未停止，调用SaveManager::savePlayerData()保存数据。</a:t>
            </a:r>
            <a:br/>
            <a:r>
              <a:t>退出时: g_autoSaveRunning=false → WaitForSingleObject(5000) → CloseHandle。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73152" cy="1188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C6E"/>
                </a:solidFill>
                <a:latin typeface="Microsoft YaHei"/>
              </a:defRPr>
            </a:pPr>
            <a:r>
              <a:t>3. 回合制战斗系统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3434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EnemyInfo结构体存储3种怪物(name/hp/atk/def/exp/gold)。</a:t>
            </a:r>
            <a:br/>
            <a:r>
              <a:t>while(pHp&gt;0&amp;&amp;eHp&gt;0&amp;&amp;rounds&lt;50)循环模拟回合制：</a:t>
            </a:r>
            <a:br/>
            <a:r>
              <a:t>玩家伤害=ATK+rand()%(ATK/2+1)-eDef | 敌方伤害=eAtk+rand()%(eAtk/2+1)-pDef</a:t>
            </a:r>
            <a:br/>
            <a:r>
              <a:t>胜利→addExp+gainGold+击杀计数++→checkLevelUp()。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394960"/>
            <a:ext cx="73152" cy="1188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3C6E"/>
                </a:solidFill>
                <a:latin typeface="Microsoft YaHei"/>
              </a:defRPr>
            </a:pPr>
            <a:r>
              <a:t>4. 等级自动成长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checkLevelUp(): while循环检测EXP是否达到阈值→自动升级。</a:t>
            </a:r>
            <a:br/>
            <a:r>
              <a:t>阈值公式：expToNextLevel(lv)=lv×30+20，最高50级。</a:t>
            </a:r>
            <a:br/>
            <a:r>
              <a:t>升级效果：HP上限+20、ATK+5、满血恢复、溢出经验保留。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战斗系统 + 任务系统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三种校园怪物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30352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579A"/>
                </a:solidFill>
                <a:latin typeface="Microsoft YaHei"/>
              </a:defRPr>
            </a:pPr>
            <a:r>
              <a:t>懒散学渣小怪 (新手级)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HP:80 | ATK:8 | DEF:2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01F"/>
                </a:solidFill>
                <a:latin typeface="Microsoft YaHei"/>
              </a:defRPr>
            </a:pPr>
            <a:r>
              <a:t>EXP:30 | 金币:15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200400"/>
            <a:ext cx="530352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918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579A"/>
                </a:solidFill>
                <a:latin typeface="Microsoft YaHei"/>
              </a:defRPr>
            </a:pPr>
            <a:r>
              <a:t>熬夜复习怪 (中等级)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HP:150 | ATK:15 | DEF:5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6576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01F"/>
                </a:solidFill>
                <a:latin typeface="Microsoft YaHei"/>
              </a:defRPr>
            </a:pPr>
            <a:r>
              <a:t>EXP:65 | 金币:35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72000"/>
            <a:ext cx="5303520" cy="11887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B579A"/>
                </a:solidFill>
                <a:latin typeface="Microsoft YaHei"/>
              </a:defRPr>
            </a:pPr>
            <a:r>
              <a:t>期末压力Boss (高级)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YaHei"/>
              </a:defRPr>
            </a:pPr>
            <a:r>
              <a:t>HP:300 | ATK:28 | DEF:10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5029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01F"/>
                </a:solidFill>
                <a:latin typeface="Microsoft YaHei"/>
              </a:defRPr>
            </a:pPr>
            <a:r>
              <a:t>EXP:150 | 金币:90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C6E"/>
                </a:solidFill>
                <a:latin typeface="Microsoft YaHei"/>
              </a:defRPr>
            </a:pPr>
            <a:r>
              <a:t>4个校园任务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1828800"/>
            <a:ext cx="5303520" cy="9601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87452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F"/>
                </a:solidFill>
                <a:latin typeface="Microsoft YaHei"/>
              </a:defRPr>
            </a:pPr>
            <a:r>
              <a:t>任务一：新手初试冒险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完成1场任意战斗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14884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B579A"/>
                </a:solidFill>
                <a:latin typeface="Microsoft YaHei"/>
              </a:defRPr>
            </a:pPr>
            <a:r>
              <a:t>EXP:80 | 金币:50 | 面包×2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926080"/>
            <a:ext cx="5303520" cy="9601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29718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F"/>
                </a:solidFill>
                <a:latin typeface="Microsoft YaHei"/>
              </a:defRPr>
            </a:pPr>
            <a:r>
              <a:t>任务二：清理校园小怪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24612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击杀3只懒散学渣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24612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B579A"/>
                </a:solidFill>
                <a:latin typeface="Microsoft YaHei"/>
              </a:defRPr>
            </a:pPr>
            <a:r>
              <a:t>EXP:120 | 金币:80 | 喷雾×1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023360"/>
            <a:ext cx="5303520" cy="9601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06908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F"/>
                </a:solidFill>
                <a:latin typeface="Microsoft YaHei"/>
              </a:defRPr>
            </a:pPr>
            <a:r>
              <a:t>任务三：中级历练挑战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34340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击败2只熬夜复习怪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B579A"/>
                </a:solidFill>
                <a:latin typeface="Microsoft YaHei"/>
              </a:defRPr>
            </a:pPr>
            <a:r>
              <a:t>EXP:200 | 金币:120 | 护腕×1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5120640"/>
            <a:ext cx="5303520" cy="9601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51663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F"/>
                </a:solidFill>
                <a:latin typeface="Microsoft YaHei"/>
              </a:defRPr>
            </a:pPr>
            <a:r>
              <a:t>任务四：攻克期末难关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44068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击败1只期末Boss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54406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B579A"/>
                </a:solidFill>
                <a:latin typeface="Microsoft YaHei"/>
              </a:defRPr>
            </a:pPr>
            <a:r>
              <a:t>EXP:350 | 金币:200 | 药剂×2+徽章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测试与结果分析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7498079" cy="3474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9844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角色管理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29844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创建角色输入中文名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29844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名称正确显示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6640" y="1307592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130759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8249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角色管理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168249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查看属性面板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68249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Lv.1数据全部正确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1691640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691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48256"/>
            <a:ext cx="7498079" cy="3474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06654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背包管理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06654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打开空背包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06654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显示"背包是空的"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075688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20756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商店系统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505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购买校园面包(15G)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4505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金币-15,背包+1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06640" y="2459736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245973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816352"/>
            <a:ext cx="7498079" cy="3474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8346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战斗系统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283464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挑战懒散学渣小怪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60" y="283464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回合制+30EXP+15G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6640" y="2843784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0" y="284378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21868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战斗系统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03120" y="32186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挑战期末压力Boss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32186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150EXP+90G奖励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06640" y="3227832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322783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584448"/>
            <a:ext cx="7498079" cy="3474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60273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等级成长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3120" y="360273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EXP累积达到阈值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4960" y="360273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自动升级,HP+20,ATK+5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406640" y="3611880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36118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3986784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任务系统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398678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接取→完成→领取奖励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94960" y="39867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状态流转+奖励正确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3995928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39959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352544"/>
            <a:ext cx="7498079" cy="3474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370832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SQLite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437083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道具数据存入数据库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94960" y="43708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SQL查询正确返回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0" y="4379976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0" y="4379976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475488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多线程存档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03120" y="475488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后台自动保存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960" y="47548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60秒存档文件更新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06640" y="4764024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06640" y="476402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120640"/>
            <a:ext cx="7498079" cy="347472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138928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存档系统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51389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保存后关闭重新打开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94960" y="51389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数据完整恢复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06640" y="5148072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06640" y="5148072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8640" y="5522976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579A"/>
                </a:solidFill>
                <a:latin typeface="Microsoft YaHei"/>
              </a:defRPr>
            </a:pPr>
            <a:r>
              <a:t>中文显示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03120" y="552297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YaHei"/>
              </a:defRPr>
            </a:pPr>
            <a:r>
              <a:t>全界面中文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94960" y="552297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无任何乱码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406640" y="5532120"/>
            <a:ext cx="45720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5532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C6E"/>
                </a:solidFill>
                <a:latin typeface="Microsoft YaHei"/>
              </a:defRPr>
            </a:pPr>
            <a:r>
              <a:t>关键问题与解决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29600" y="1920240"/>
            <a:ext cx="3657600" cy="10058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Microsoft YaHei"/>
              </a:defRPr>
            </a:pPr>
            <a:r>
              <a:t>问题1：中文乱码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12480" y="22402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编译选项-fexec-charset=UTF-8输出UTF-8，但U2W使用CP_ACP→乱码。</a:t>
            </a:r>
            <a:br/>
            <a:r>
              <a:t>→ 将CP_ACP改为CP_UTF8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29600" y="3063240"/>
            <a:ext cx="3657600" cy="10058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0" y="3108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Microsoft YaHei"/>
              </a:defRPr>
            </a:pPr>
            <a:r>
              <a:t>问题2：MinGW缺少make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12480" y="33832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CMake无法生成Makefile。</a:t>
            </a:r>
            <a:br/>
            <a:r>
              <a:t>→ 改用g++命令行直接编译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229600" y="4206240"/>
            <a:ext cx="3657600" cy="10058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12480" y="4251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Microsoft YaHei"/>
              </a:defRPr>
            </a:pPr>
            <a:r>
              <a:t>问题3：std::thread不支持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5262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MinGW 6.3.0未完整支持C++11线程库。</a:t>
            </a:r>
            <a:br/>
            <a:r>
              <a:t>→ 使用Win32 CreateThread API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29600" y="5349240"/>
            <a:ext cx="3657600" cy="10058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412480" y="53949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Microsoft YaHei"/>
              </a:defRPr>
            </a:pPr>
            <a:r>
              <a:t>问题4：SQLite集成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5669280"/>
            <a:ext cx="3291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嵌入式数据库编译和链接配置。</a:t>
            </a:r>
            <a:br/>
            <a:r>
              <a:t>→ sqlite3.c直接加入源文件编译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solidFill>
            <a:srgbClr val="2B57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31520" y="62819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测试统计：12个测试用例 | 12个通过 | 0个失败 | 通过率 100% | 覆盖6大模块+2项挑战任务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总结与展望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2286000" cy="45720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项目成果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✓ 完整实现6大核心功能模块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✓ 完成2项挑战任务（SQLite+多线程存档）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✓ 代码量3000+行，15个核心类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✓ Win32 GUI中文界面，9按钮8对话框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✓ SQLite数据库+文件双重数据管理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✓ 12种道具、4个任务、3种怪物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✓ 12项测试全部通过，通过率100%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技术收获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继承与多态 — Item/Skill双体系，虚函数/RTTI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STL容器 — vector管理对象，string/sstream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设计模式 — 工厂/原型/策略/模板方法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数据库编程 — SQLite C API嵌入式数据库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多线程编程 — CreateThread/volatile/同步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Win32编程 — 消息循环/对话框/GDI字体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Microsoft YaHei"/>
              </a:defRPr>
            </a:pPr>
            <a:r>
              <a:t>项目管理 — Git协作/模块化/接口约定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3C6E"/>
                </a:solidFill>
                <a:latin typeface="Microsoft YaHei"/>
              </a:defRPr>
            </a:pPr>
            <a:r>
              <a:t>未来展望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120640"/>
            <a:ext cx="1874519" cy="14630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51663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B579A"/>
                </a:solidFill>
                <a:latin typeface="Microsoft YaHei"/>
              </a:defRPr>
            </a:pPr>
            <a:r>
              <a:t>音效系统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468112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WAV/MP3背景音乐和战斗音效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8978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增强沉浸感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5120640"/>
            <a:ext cx="1874519" cy="14630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51663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B579A"/>
                </a:solidFill>
                <a:latin typeface="Microsoft YaHei"/>
              </a:defRPr>
            </a:pPr>
            <a:r>
              <a:t>地图探索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5468112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校园场景地图系统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58978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NPC和怪物分布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5120640"/>
            <a:ext cx="1874519" cy="14630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51663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B579A"/>
                </a:solidFill>
                <a:latin typeface="Microsoft YaHei"/>
              </a:defRPr>
            </a:pPr>
            <a:r>
              <a:t>装备强化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5468112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升级/附魔/套装属性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58978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进阶养成玩法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5120640"/>
            <a:ext cx="1874519" cy="14630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51663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B579A"/>
                </a:solidFill>
                <a:latin typeface="Microsoft YaHei"/>
              </a:defRPr>
            </a:pPr>
            <a:r>
              <a:t>网络排行榜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5468112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HTTP服务器排名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58978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玩家等级排名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5120640"/>
            <a:ext cx="1874519" cy="14630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51663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B579A"/>
                </a:solidFill>
                <a:latin typeface="Microsoft YaHei"/>
              </a:defRPr>
            </a:pPr>
            <a:r>
              <a:t>Web管理后台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5468112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道具/任务数据管理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58978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可视化配置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32720" y="5120640"/>
            <a:ext cx="1874519" cy="146304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78440" y="5166360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B579A"/>
                </a:solidFill>
                <a:latin typeface="Microsoft YaHei"/>
              </a:defRPr>
            </a:pPr>
            <a:r>
              <a:t>跨平台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78440" y="5468112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Microsoft YaHei"/>
              </a:defRPr>
            </a:pPr>
            <a:r>
              <a:t>SDL2/Qt替代Win32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589788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33333"/>
                </a:solidFill>
                <a:latin typeface="Microsoft YaHei"/>
              </a:defRPr>
            </a:pPr>
            <a:r>
              <a:t>Linux/macOS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C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感谢聆听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3017520"/>
            <a:ext cx="3017520" cy="27432"/>
          </a:xfrm>
          <a:prstGeom prst="rect">
            <a:avLst/>
          </a:prstGeom>
          <a:solidFill>
            <a:srgbClr val="D4A0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BBCC"/>
                </a:solidFill>
                <a:latin typeface="Microsoft YaHei"/>
              </a:defRPr>
            </a:pPr>
            <a:r>
              <a:t>校园RPG冒险游戏 · C++面向对象课程设计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Microsoft YaHei"/>
              </a:defRPr>
            </a:pPr>
            <a:r>
              <a:t>组长：张佳怡  |  学号：1030425404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BBCC"/>
                </a:solidFill>
                <a:latin typeface="Microsoft YaHei"/>
              </a:defRPr>
            </a:pPr>
            <a:r>
              <a:t>人工智能与自动化学院 · 计科2504 · 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D4A01F"/>
                </a:solidFill>
                <a:latin typeface="Microsoft YaHei"/>
              </a:defRPr>
            </a:pPr>
            <a:r>
              <a:t>欢迎提问与交流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